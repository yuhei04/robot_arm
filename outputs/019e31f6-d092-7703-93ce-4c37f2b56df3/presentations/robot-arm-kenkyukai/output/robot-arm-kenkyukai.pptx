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faf0b1c79b4456" /><Relationship Type="http://schemas.openxmlformats.org/officeDocument/2006/relationships/extended-properties" Target="/docProps/app.xml" Id="R4ff04ffef9464078" /><Relationship Type="http://schemas.openxmlformats.org/officeDocument/2006/relationships/officeDocument" Target="/ppt/presentation.xml" Id="R7cc3d9e6bc204c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c85491cb3048c1"/>
  </p:sldMasterIdLst>
  <p:notesMasterIdLst>
    <p:notesMasterId xmlns:r="http://schemas.openxmlformats.org/officeDocument/2006/relationships" r:id="R2925eee7ddc54678"/>
  </p:notesMasterIdLst>
  <p:sldIdLst>
    <p:sldId xmlns:r="http://schemas.openxmlformats.org/officeDocument/2006/relationships" id="256" r:id="Rb05717f6089f4cbe"/>
    <p:sldId xmlns:r="http://schemas.openxmlformats.org/officeDocument/2006/relationships" id="257" r:id="Rf7cf5d1cad654ceb"/>
    <p:sldId xmlns:r="http://schemas.openxmlformats.org/officeDocument/2006/relationships" id="258" r:id="R14f2483c4d604afe"/>
    <p:sldId xmlns:r="http://schemas.openxmlformats.org/officeDocument/2006/relationships" id="259" r:id="R4f79b0ef057748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85491cb3048c1" /><Relationship Type="http://schemas.openxmlformats.org/officeDocument/2006/relationships/theme" Target="/ppt/theme/theme1.xml" Id="Rf6ea8a2dc6164a8d" /><Relationship Type="http://schemas.openxmlformats.org/officeDocument/2006/relationships/notesMaster" Target="/ppt/notesMasters/notesMaster1.xml" Id="R2925eee7ddc54678" /><Relationship Type="http://schemas.openxmlformats.org/officeDocument/2006/relationships/presProps" Target="/ppt/presProps.xml" Id="Rb59832494ff344cd" /><Relationship Type="http://schemas.openxmlformats.org/officeDocument/2006/relationships/viewProps" Target="/ppt/viewProps.xml" Id="R9be9b77600e14025" /><Relationship Type="http://schemas.openxmlformats.org/officeDocument/2006/relationships/tableStyles" Target="/ppt/tableStyles.xml" Id="R40ef2e9f581041db" /><Relationship Type="http://schemas.openxmlformats.org/officeDocument/2006/relationships/slide" Target="/ppt/slides/slide1.xml" Id="Rb05717f6089f4cbe" /><Relationship Type="http://schemas.openxmlformats.org/officeDocument/2006/relationships/slide" Target="/ppt/slides/slide2.xml" Id="Rf7cf5d1cad654ceb" /><Relationship Type="http://schemas.openxmlformats.org/officeDocument/2006/relationships/slide" Target="/ppt/slides/slide3.xml" Id="R14f2483c4d604afe" /><Relationship Type="http://schemas.openxmlformats.org/officeDocument/2006/relationships/slide" Target="/ppt/slides/slide4.xml" Id="R4f79b0ef057748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fbd1db680f148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a356d24f9a44e8" /><Relationship Type="http://schemas.openxmlformats.org/officeDocument/2006/relationships/notesMaster" Target="/ppt/notesMasters/notesMaster1.xml" Id="Rddde2880129049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9e38dc6c454f4e" /><Relationship Type="http://schemas.openxmlformats.org/officeDocument/2006/relationships/notesMaster" Target="/ppt/notesMasters/notesMaster1.xml" Id="Ra0a1b32f4ee24f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467ead359349ff" /><Relationship Type="http://schemas.openxmlformats.org/officeDocument/2006/relationships/notesMaster" Target="/ppt/notesMasters/notesMaster1.xml" Id="R800870f0e46e45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7c43babf4c4cda" /><Relationship Type="http://schemas.openxmlformats.org/officeDocument/2006/relationships/notesMaster" Target="/ppt/notesMasters/notesMaster1.xml" Id="R54cc9d27136b42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a21f856bd74d2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386d3576218456c" /><Relationship Type="http://schemas.openxmlformats.org/officeDocument/2006/relationships/slideLayout" Target="/ppt/slideLayouts/slideLayout2.xml" Id="R392cf203123740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2cf203123740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dcb5b23d354ff6" /><Relationship Type="http://schemas.openxmlformats.org/officeDocument/2006/relationships/notesSlide" Target="/ppt/notesSlides/notesSlide1.xml" Id="Rcf3991b8e19a45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e957441fcc4209" /><Relationship Type="http://schemas.openxmlformats.org/officeDocument/2006/relationships/notesSlide" Target="/ppt/notesSlides/notesSlide2.xml" Id="R4fcf222085bf49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8bb2d14de64066" /><Relationship Type="http://schemas.openxmlformats.org/officeDocument/2006/relationships/notesSlide" Target="/ppt/notesSlides/notesSlide3.xml" Id="R0519a32513ee42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a98fdc9cb64089" /><Relationship Type="http://schemas.openxmlformats.org/officeDocument/2006/relationships/notesSlide" Target="/ppt/notesSlides/notesSlide4.xml" Id="R3279460340bf473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81549F-8596-4990-8D7F-7CCFFA57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F6F7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4A072-F247-4AF2-B112-51A1F867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23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ロボットアームを作る動機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4D69C-23DE-4F37-8D52-FC164512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rPr>
              <a:t>小型・低コストな実機で、設計から制御、模倣学習まで一貫して試せる環境を作る。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A3803-CDBE-4C11-B80E-1DF781F3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28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A269"/>
          </a:solidFill>
          <a:ln xmlns:a="http://schemas.openxmlformats.org/drawingml/2006/main" w="0">
            <a:solidFill>
              <a:srgbClr val="26A26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0EA98-E1B8-42FC-9EBE-9647F706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9BA68-E7AC-4D3E-9E1E-2C8AB97C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383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実機で試す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0DD2D-D42E-4FAC-8F36-E72867D8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0030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rPr>
              <a:t>シミュレーションだけでは見えにくい摩擦、ガタ、配線、電源の問題を含めて学習する。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5FAEE-540C-4AD7-A9EB-79AB4B14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90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C2C7A-CEEF-413D-8E4C-ABDC6C83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08361-467A-4FC9-8B83-BEF3A05F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04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自分で直せる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FD9C8-E962-4553-A216-CA2CF600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6235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rPr>
              <a:t>3Dプリント部品とDYNAMIXEL構成にして、破損や改造を短いサイクルで回す。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CD519-007C-4346-B4E5-80906AFE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352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B31"/>
          </a:solidFill>
          <a:ln xmlns:a="http://schemas.openxmlformats.org/drawingml/2006/main" w="0">
            <a:solidFill>
              <a:srgbClr val="D48B3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D7164-F981-4CC1-89E2-39093966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60D38-C112-41AA-A00D-2152A3D9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624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データを取る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700FE0-6AA8-4646-BC4B-32DC31E5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2440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rPr>
              <a:t>leader/follower や遠隔操作へ拡張し、動作データ収集の土台にする。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B8759-40C6-4974-9C6B-E7636D5C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81150"/>
            <a:ext cx="36766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E7"/>
          </a:solidFill>
          <a:ln xmlns:a="http://schemas.openxmlformats.org/drawingml/2006/main" w="0">
            <a:solidFill>
              <a:srgbClr val="E8ED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47D718-3091-4F89-B6A3-CE1C8245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338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A5D6B-6653-479A-81EC-A5BE6C8D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9C468E-E679-41BB-B888-58A07D2C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A269"/>
          </a:solidFill>
          <a:ln xmlns:a="http://schemas.openxmlformats.org/drawingml/2006/main" w="0">
            <a:solidFill>
              <a:srgbClr val="26A2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04FA29-71A1-4738-9DEF-04B19C7E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982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778CEF-DA85-4BFC-A18E-2948BA69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4D4429-F3E3-4CC3-B77C-A8DB7899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4765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9B0F96-EB49-4C8F-A53E-8D8CC135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3909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B31"/>
          </a:solidFill>
          <a:ln xmlns:a="http://schemas.openxmlformats.org/drawingml/2006/main" w="0">
            <a:solidFill>
              <a:srgbClr val="D48B3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45A0D9-3FF8-4F81-A591-D09D5179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562350"/>
            <a:ext cx="781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C63DF6-747A-40DE-9433-AC8E7A23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371850"/>
            <a:ext cx="114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F713AC-EB9E-486E-9C9F-1098F907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669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5軸 + グリッパ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4E26EB-1556-4CCB-8DB4-06E2DA81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90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rPr>
              <a:t>XC430 / 2XC430 を中心に構成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95CB18-C39A-4AB3-ACAC-ACF34D32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rPr>
              <a:t>OpenCR + DYNAMIXEL / 3D printed robot arm</a:t>
            </a:r>
          </a:p>
        </p:txBody>
      </p:sp>
    </p:spTree>
    <p:extLst>
      <p:ext uri="{BB962C8B-B14F-4D97-AF65-F5344CB8AC3E}">
        <p14:creationId xmlns:p14="http://schemas.microsoft.com/office/powerpoint/2010/main" val="20555383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0FAB0C-C185-4099-AB2D-D866C5DF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F6F7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03989-27F1-4F1E-B8E8-073AA361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A269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6A269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59D9D-4542-4E0E-8C89-2C679AC9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動作確認: OpenCRから各軸を制御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B198D-48A5-4672-8D6C-202748E4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33425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rPr>
              <a:t>動画を中央の枠に差し替える想定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2FFFB-4114-4589-AF1F-D6D66BBE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477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473ED-CD39-4167-9C46-05F52DF0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52475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1118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3F1C7-AC34-4D49-A3D2-D20164D7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7181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832"/>
          </a:solidFill>
          <a:ln xmlns:a="http://schemas.openxmlformats.org/drawingml/2006/main" w="9525">
            <a:solidFill>
              <a:srgbClr val="4351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60314-6CC1-411E-A62D-DC2BBF04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289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72559-9CD3-4C32-B26A-2442202E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19450"/>
            <a:ext cx="57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F615B-D09C-4A92-B1D8-DA105762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2862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ここにロボットアームの動画を配置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F69BAE-6F3B-4EC5-BE8C-798B30D1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48200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9D3D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C9D3DD"/>
                </a:solidFill>
                <a:latin typeface="Hiragino Sans"/>
                <a:ea typeface="Hiragino Sans"/>
                <a:cs typeface="Hiragino Sans"/>
              </a:rPr>
              <a:t>ID 1〜5 の認識、現在位置読み取り、小角度動作を確認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8A0BF-3BD2-4B5D-B780-281F61A4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4478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A269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6A269"/>
                </a:solidFill>
                <a:latin typeface="Hiragino Sans"/>
                <a:ea typeface="Hiragino Sans"/>
                <a:cs typeface="Hiragino Sans"/>
              </a:rPr>
              <a:t>確認済み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88932-713B-4FDD-80A1-98FDCF96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95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A269"/>
          </a:solidFill>
          <a:ln xmlns:a="http://schemas.openxmlformats.org/drawingml/2006/main" w="0">
            <a:solidFill>
              <a:srgbClr val="26A2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BFD160-D967-4F79-B299-FB1316A8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OpenCR から ping / scan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3F45D-FE35-414E-AC58-497951AC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47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A269"/>
          </a:solidFill>
          <a:ln xmlns:a="http://schemas.openxmlformats.org/drawingml/2006/main" w="0">
            <a:solidFill>
              <a:srgbClr val="26A2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05CB4-8D45-40B9-9336-6E95C627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384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present position の読み取り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8DBDF-566E-4A92-AF03-E717934E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00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A269"/>
          </a:solidFill>
          <a:ln xmlns:a="http://schemas.openxmlformats.org/drawingml/2006/main" w="0">
            <a:solidFill>
              <a:srgbClr val="26A2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DAA78B-3CB8-423E-BC1A-2038C01C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908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torque on / 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A13DC4-B2C2-4DD1-AA9B-931B6AF6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552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A269"/>
          </a:solidFill>
          <a:ln xmlns:a="http://schemas.openxmlformats.org/drawingml/2006/main" w="0">
            <a:solidFill>
              <a:srgbClr val="26A2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59B47E-F6B3-403B-9BE5-3ABE2F61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433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小角度の往復動作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3E84DE-11AC-481E-B103-67E62AC3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05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B31"/>
          </a:solidFill>
          <a:ln xmlns:a="http://schemas.openxmlformats.org/drawingml/2006/main" w="0">
            <a:solidFill>
              <a:srgbClr val="D48B3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C357AD-FD0F-4C7D-956B-F03109B4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957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8B3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D48B31"/>
                </a:solidFill>
                <a:latin typeface="Hiragino Sans"/>
                <a:ea typeface="Hiragino Sans"/>
                <a:cs typeface="Hiragino Sans"/>
              </a:rPr>
              <a:t>ID1 の微振動を調査中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EDA7F0-AF03-46F0-BC3D-FF0F1CEA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95850"/>
            <a:ext cx="2495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ACC534-608E-488E-8321-1B1C9CC5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482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A71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E6A71"/>
                </a:solidFill>
                <a:latin typeface="Hiragino Sans"/>
                <a:ea typeface="Hiragino Sans"/>
                <a:cs typeface="Hiragino Sans"/>
              </a:rPr>
              <a:t>次の確認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906167-7A37-4832-AFE7-D8EFB092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76850"/>
            <a:ext cx="1943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組み立て前に、関節ごとのゼロ位置と可動範囲を固定する。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F9BDE3-994D-4A35-BDD2-EAA199DD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rPr>
              <a:t>OpenCR + DYNAMIXEL / 3D printed robot arm</a:t>
            </a:r>
          </a:p>
        </p:txBody>
      </p:sp>
    </p:spTree>
    <p:extLst>
      <p:ext uri="{BB962C8B-B14F-4D97-AF65-F5344CB8AC3E}">
        <p14:creationId xmlns:p14="http://schemas.microsoft.com/office/powerpoint/2010/main" val="20195389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B358BD-D76E-4C62-A5B4-E63A15D8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F6F7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A2CD6-61FC-49AC-9C85-30049E25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A269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6A269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D3B0D-0BB9-4FAC-9445-E2945CE4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手先: 軽量な2指グリッパから始める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9F055-4F8A-4826-88A7-E03357FB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33425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rPr>
              <a:t>可搬重量よりも、先端重量を下げて肩・肘の負担を抑える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8C6D4-0881-4BAC-A506-799FEBC1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477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33A00-4892-4CE6-BC3F-22631784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953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466DC-DE2D-40F7-B8D4-C6886D43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861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A7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5E6A71"/>
                </a:solidFill>
                <a:latin typeface="Hiragino Sans"/>
                <a:ea typeface="Hiragino Sans"/>
                <a:cs typeface="Hiragino Sans"/>
              </a:rPr>
              <a:t>手先写真 / CAD図を配置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2D64F-FB63-4B3F-99E9-5290D311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09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rPr>
              <a:t>差し替え枠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DC3CC-E64C-4200-A4E1-83C8DBD2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669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31086-35C3-4CB3-B95E-D52C543C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7EEEB-B37A-4CAD-B164-4304EC6D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85950"/>
            <a:ext cx="400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0F47F-79FD-4F93-8FEB-3CEC1235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335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447EE-2D57-4D94-8B8E-8496CC48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003D7-5AC9-4CB0-82F5-8F8DECDD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57450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B31"/>
          </a:solidFill>
          <a:ln xmlns:a="http://schemas.openxmlformats.org/drawingml/2006/main" w="0">
            <a:solidFill>
              <a:srgbClr val="D48B3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F9AA5-A14C-48E5-9876-A0AA36BD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956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F6F9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2F6F9F"/>
                </a:solidFill>
                <a:latin typeface="Menlo"/>
                <a:ea typeface="Menlo"/>
                <a:cs typeface="Menlo"/>
              </a:rPr>
              <a:t>wrist roll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01588-305B-4297-A047-0B9CBDF1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814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48B31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D48B31"/>
                </a:solidFill>
                <a:latin typeface="Menlo"/>
                <a:ea typeface="Menlo"/>
                <a:cs typeface="Menlo"/>
              </a:rPr>
              <a:t>gripper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0CAD3-79AE-4854-84C4-5F08A66B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軽さ優先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9D777A-D1A1-496B-B4D0-F2BA3F4F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6720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rPr>
              <a:t>XC330を使う場合でも、指とフレームの質量を抑える。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C3CBCF-2265-4C82-9AC4-01E0A75A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対象物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CDAD55-B5A0-4E6A-ABD0-DE027823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0060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rPr>
              <a:t>最初は軽いブロック、スポンジ、空箱などに限定する。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804076-0DAD-472D-B5BA-C29DE67B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340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設計余地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DA799-EE18-4680-AD53-EADFB88B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3400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rPr>
              <a:t>指先材質、開閉幅、滑り止めは交換式にして試す。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F327B-DD26-41E5-982A-A5EA47A1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rPr>
              <a:t>OpenCR + DYNAMIXEL / 3D printed robot arm</a:t>
            </a:r>
          </a:p>
        </p:txBody>
      </p:sp>
    </p:spTree>
    <p:extLst>
      <p:ext uri="{BB962C8B-B14F-4D97-AF65-F5344CB8AC3E}">
        <p14:creationId xmlns:p14="http://schemas.microsoft.com/office/powerpoint/2010/main" val="7171369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0C0E92-6A3A-4164-9EA5-47D8A609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F6F7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A3F6C-DD0F-493F-AD04-AA1F858F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A269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6A269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74649-266B-4FAB-9D2F-E98B6977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問題点と今後の課題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4C5A4-DFDC-4F30-A609-951D244D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33425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rPr>
              <a:t>機構・電装・制御を分けて、組み立て前に潰せるリスクを整理する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5B095-3AA3-48CE-8840-B212917E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477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7A47B-909D-472D-856F-86CEDE14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3067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1B74B-390A-473B-88DE-D662FD85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819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C6D4B-F8A4-44AE-ACF4-6D42518E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9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機構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BEC24-29F4-48A7-BBE2-869FEBED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A4B89-BEC9-406B-995D-9F7CBDD9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220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J1の荷重をサーボ軸だけで受けない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98708-0F70-4739-8666-EF6ECEAC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6C7D1-A9ED-400D-B75D-95A8C4B3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0400"/>
            <a:ext cx="220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スラストベアリングと中心ガイドの設計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FD17F-E0AE-47D2-B022-5584D53E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654EF-BE54-4B67-A926-808B853B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43350"/>
            <a:ext cx="220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3Dプリント部品のガタ・剛性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A717C-F0C2-4903-B90C-A8860609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81150"/>
            <a:ext cx="3067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A6D3F7-3BFD-4335-86E3-E75D707A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19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B31"/>
          </a:solidFill>
          <a:ln xmlns:a="http://schemas.openxmlformats.org/drawingml/2006/main" w="0">
            <a:solidFill>
              <a:srgbClr val="D48B3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2ADFE-7B4C-41CF-B7C6-A6F03BDD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09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電装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DEC43C-70A4-4379-BC45-B55EC606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33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B31"/>
          </a:solidFill>
          <a:ln xmlns:a="http://schemas.openxmlformats.org/drawingml/2006/main" w="0">
            <a:solidFill>
              <a:srgbClr val="D48B3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864CB-8BE5-4910-92BA-193FD7EF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57450"/>
            <a:ext cx="220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XC330-Mは12V系と混在不可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C636A1-CD32-4BFC-91CD-349988F9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76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B31"/>
          </a:solidFill>
          <a:ln xmlns:a="http://schemas.openxmlformats.org/drawingml/2006/main" w="0">
            <a:solidFill>
              <a:srgbClr val="D48B3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C348F-9350-4DBA-ADEC-2D2027AC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00400"/>
            <a:ext cx="220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配線の張りが根本軸の振動要因になる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B2D032-DAC0-43EB-B337-0660F16E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19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B31"/>
          </a:solidFill>
          <a:ln xmlns:a="http://schemas.openxmlformats.org/drawingml/2006/main" w="0">
            <a:solidFill>
              <a:srgbClr val="D48B3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487945-D48A-465B-95BE-877BC686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43350"/>
            <a:ext cx="220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電源容量と電圧降下の確認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E82C6D-A2FF-4051-A55E-1C26B1FC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81150"/>
            <a:ext cx="3067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4A3D04-655E-40B8-886E-8D02548B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19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A269"/>
          </a:solidFill>
          <a:ln xmlns:a="http://schemas.openxmlformats.org/drawingml/2006/main" w="0">
            <a:solidFill>
              <a:srgbClr val="26A26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739057-7806-4C03-A1FC-F0D26768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制御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C49B29-9959-4A7A-941A-9FD31C52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33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A269"/>
          </a:solidFill>
          <a:ln xmlns:a="http://schemas.openxmlformats.org/drawingml/2006/main" w="0">
            <a:solidFill>
              <a:srgbClr val="26A26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A106C7-DC7F-4033-804D-C0DE5012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20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ID管理とゼロ位置の固定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037B51-4720-4764-B869-B70AB5C0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76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A269"/>
          </a:solidFill>
          <a:ln xmlns:a="http://schemas.openxmlformats.org/drawingml/2006/main" w="0">
            <a:solidFill>
              <a:srgbClr val="26A26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41319F-2DA4-48EF-8DA2-E145F736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220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ID1のハンチング対策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FE482B-AC5B-4730-9084-00EF6599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19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A269"/>
          </a:solidFill>
          <a:ln xmlns:a="http://schemas.openxmlformats.org/drawingml/2006/main" w="0">
            <a:solidFill>
              <a:srgbClr val="26A26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73979E-2A9D-4298-9138-8C1E3178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43350"/>
            <a:ext cx="220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関節ごとの可動範囲制限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249502-8FC5-4AA6-9A7C-FFDC3B54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1038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773180-4D46-4BB9-BFC3-EA4E4731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19750"/>
            <a:ext cx="981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次のマイルストーン: J1ベース単体試作 → 肩・肘を載せる → 手先を軽量化しながら動作範囲を広げる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A4D653-2EE1-45FC-B616-2AFDDE38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E6A71"/>
                </a:solidFill>
                <a:latin typeface="Hiragino Sans"/>
                <a:ea typeface="Hiragino Sans"/>
                <a:cs typeface="Hiragino Sans"/>
              </a:rPr>
              <a:t>OpenCR + DYNAMIXEL / 3D printed robot arm</a:t>
            </a:r>
          </a:p>
        </p:txBody>
      </p:sp>
    </p:spTree>
    <p:extLst>
      <p:ext uri="{BB962C8B-B14F-4D97-AF65-F5344CB8AC3E}">
        <p14:creationId xmlns:p14="http://schemas.microsoft.com/office/powerpoint/2010/main" val="780071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2026-05-18T19:16:29.8420000Z</dcterms:created>
  <dcterms:modified xsi:type="dcterms:W3CDTF">2026-05-18T19:16:29.8420000Z</dcterms:modified>
</coreProperties>
</file>